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hyperlink" Target="https://www.google.com/maps" TargetMode="External"/><Relationship Id="rId9" Type="http://schemas.openxmlformats.org/officeDocument/2006/relationships/hyperlink" Target="https://www.esri.com/en-us/arcgis" TargetMode="External"/><Relationship Id="rId5" Type="http://schemas.openxmlformats.org/officeDocument/2006/relationships/hyperlink" Target="https://www.mappls.com/" TargetMode="External"/><Relationship Id="rId6" Type="http://schemas.openxmlformats.org/officeDocument/2006/relationships/hyperlink" Target="https://loconav.com/" TargetMode="External"/><Relationship Id="rId7" Type="http://schemas.openxmlformats.org/officeDocument/2006/relationships/hyperlink" Target="https://www.samsara.com/" TargetMode="External"/><Relationship Id="rId8" Type="http://schemas.openxmlformats.org/officeDocument/2006/relationships/hyperlink" Target="https://bhuvan.nrsc.gov.in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hyperlink" Target="https://www.pib.gov.in/PressReleasePage.aspx?PRID=2297818&amp;lang=1&amp;reg=48&amp;utm_source=chatgpt.com" TargetMode="External"/><Relationship Id="rId11" Type="http://schemas.openxmlformats.org/officeDocument/2006/relationships/hyperlink" Target="https://bhusanket.gsi.gov.in/Activities_V9.html?utm_source=chatgpt.com" TargetMode="External"/><Relationship Id="rId10" Type="http://schemas.openxmlformats.org/officeDocument/2006/relationships/hyperlink" Target="https://necouncil.gov.in/sites/default/files/NEC%20Yearbook%202025.pdf?utm_source=chatgpt.com" TargetMode="External"/><Relationship Id="rId12" Type="http://schemas.openxmlformats.org/officeDocument/2006/relationships/hyperlink" Target="https://bhusanket.gsi.gov.in/Activities_V9.html?utm_source=chatgpt.com" TargetMode="External"/><Relationship Id="rId9" Type="http://schemas.openxmlformats.org/officeDocument/2006/relationships/hyperlink" Target="https://necouncil.gov.in/sites/default/files/NEC%20Yearbook%202025.pdf?utm_source=chatgpt.com" TargetMode="External"/><Relationship Id="rId5" Type="http://schemas.openxmlformats.org/officeDocument/2006/relationships/hyperlink" Target="https://www.pib.gov.in/PressReleasePage.aspx?PRID=2297818&amp;lang=1&amp;reg=48&amp;utm_source=chatgpt.com" TargetMode="External"/><Relationship Id="rId6" Type="http://schemas.openxmlformats.org/officeDocument/2006/relationships/hyperlink" Target="https://www.pib.gov.in/Pressreleaseshare.aspx?PRID=1988824&amp;lang=2&amp;reg=48&amp;utm_source=chatgpt.com" TargetMode="External"/><Relationship Id="rId7" Type="http://schemas.openxmlformats.org/officeDocument/2006/relationships/hyperlink" Target="https://bhusanket.gsi.gov.in/index.html?utm_source=chatgpt.com" TargetMode="External"/><Relationship Id="rId8" Type="http://schemas.openxmlformats.org/officeDocument/2006/relationships/hyperlink" Target="https://bhusanket.gsi.gov.in/index.html?utm_source=chatgpt.com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73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0607053" y="178425"/>
            <a:ext cx="1363200" cy="1380600"/>
          </a:xfrm>
          <a:prstGeom prst="ellipse">
            <a:avLst/>
          </a:prstGeom>
          <a:solidFill>
            <a:srgbClr val="232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548640" y="566928"/>
            <a:ext cx="8778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A64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6A64F"/>
                </a:solidFill>
                <a:latin typeface="Calibri"/>
                <a:ea typeface="Calibri"/>
                <a:cs typeface="Calibri"/>
                <a:sym typeface="Calibri"/>
              </a:rPr>
              <a:t>SMART INDIA HACKATHON   ·   INTERNAL HACKATHON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0959382" y="539471"/>
            <a:ext cx="658500" cy="6585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1B1F3B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work/iitm_bs_logo.png"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41753" y="621829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388600" y="1545350"/>
            <a:ext cx="11581800" cy="13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Cambria"/>
              <a:buNone/>
            </a:pPr>
            <a:r>
              <a:rPr lang="en-US" sz="1900">
                <a:solidFill>
                  <a:schemeClr val="lt1"/>
                </a:solidFill>
              </a:rPr>
              <a:t>Al-Based Smart Logistics and Accessibility Intelligence Platform for North Eastern Region (NER) </a:t>
            </a:r>
            <a:endParaRPr b="0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3611880"/>
            <a:ext cx="5074920" cy="658368"/>
          </a:xfrm>
          <a:prstGeom prst="roundRect">
            <a:avLst>
              <a:gd fmla="val 9722" name="adj"/>
            </a:avLst>
          </a:prstGeom>
          <a:solidFill>
            <a:srgbClr val="232D6E"/>
          </a:solidFill>
          <a:ln cap="flat" cmpd="sng" w="9525">
            <a:solidFill>
              <a:srgbClr val="3741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49808" y="3694176"/>
            <a:ext cx="46725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A64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6A64F"/>
                </a:solidFill>
                <a:latin typeface="Calibri"/>
                <a:ea typeface="Calibri"/>
                <a:cs typeface="Calibri"/>
                <a:sym typeface="Calibri"/>
              </a:rPr>
              <a:t>PROBLEM STATEMENT 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749808" y="3904488"/>
            <a:ext cx="46725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SIH26002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897880" y="3611880"/>
            <a:ext cx="5074920" cy="658368"/>
          </a:xfrm>
          <a:prstGeom prst="roundRect">
            <a:avLst>
              <a:gd fmla="val 9722" name="adj"/>
            </a:avLst>
          </a:prstGeom>
          <a:solidFill>
            <a:srgbClr val="232D6E"/>
          </a:solidFill>
          <a:ln cap="flat" cmpd="sng" w="9525">
            <a:solidFill>
              <a:srgbClr val="3741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099048" y="3694176"/>
            <a:ext cx="46725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A64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6A64F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6099048" y="3904488"/>
            <a:ext cx="46725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Transportation and Logistics</a:t>
            </a:r>
            <a:endParaRPr b="0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548640" y="4416552"/>
            <a:ext cx="5074920" cy="658368"/>
          </a:xfrm>
          <a:prstGeom prst="roundRect">
            <a:avLst>
              <a:gd fmla="val 9722" name="adj"/>
            </a:avLst>
          </a:prstGeom>
          <a:solidFill>
            <a:srgbClr val="232D6E"/>
          </a:solidFill>
          <a:ln cap="flat" cmpd="sng" w="9525">
            <a:solidFill>
              <a:srgbClr val="3741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749808" y="4498848"/>
            <a:ext cx="46725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A64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6A64F"/>
                </a:solidFill>
                <a:latin typeface="Calibri"/>
                <a:ea typeface="Calibri"/>
                <a:cs typeface="Calibri"/>
                <a:sym typeface="Calibri"/>
              </a:rPr>
              <a:t>CATEGORY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749808" y="4709160"/>
            <a:ext cx="46725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5897880" y="4416552"/>
            <a:ext cx="5074920" cy="658368"/>
          </a:xfrm>
          <a:prstGeom prst="roundRect">
            <a:avLst>
              <a:gd fmla="val 9722" name="adj"/>
            </a:avLst>
          </a:prstGeom>
          <a:solidFill>
            <a:srgbClr val="232D6E"/>
          </a:solidFill>
          <a:ln cap="flat" cmpd="sng" w="9525">
            <a:solidFill>
              <a:srgbClr val="3741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6099048" y="4498848"/>
            <a:ext cx="46725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A64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6A64F"/>
                </a:solidFill>
                <a:latin typeface="Calibri"/>
                <a:ea typeface="Calibri"/>
                <a:cs typeface="Calibri"/>
                <a:sym typeface="Calibri"/>
              </a:rPr>
              <a:t>TEAM NAME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6099048" y="4709160"/>
            <a:ext cx="46725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Boolean_Pandits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548640" y="5221224"/>
            <a:ext cx="5074920" cy="658368"/>
          </a:xfrm>
          <a:prstGeom prst="roundRect">
            <a:avLst>
              <a:gd fmla="val 9722" name="adj"/>
            </a:avLst>
          </a:prstGeom>
          <a:solidFill>
            <a:srgbClr val="232D6E"/>
          </a:solidFill>
          <a:ln cap="flat" cmpd="sng" w="9525">
            <a:solidFill>
              <a:srgbClr val="3741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749808" y="5303520"/>
            <a:ext cx="46725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A64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6A64F"/>
                </a:solidFill>
                <a:latin typeface="Calibri"/>
                <a:ea typeface="Calibri"/>
                <a:cs typeface="Calibri"/>
                <a:sym typeface="Calibri"/>
              </a:rPr>
              <a:t>TEAM LEADER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749808" y="5513832"/>
            <a:ext cx="46725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Yash Kumar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5897880" y="5221224"/>
            <a:ext cx="5074920" cy="658368"/>
          </a:xfrm>
          <a:prstGeom prst="roundRect">
            <a:avLst>
              <a:gd fmla="val 9722" name="adj"/>
            </a:avLst>
          </a:prstGeom>
          <a:solidFill>
            <a:srgbClr val="232D6E"/>
          </a:solidFill>
          <a:ln cap="flat" cmpd="sng" w="9525">
            <a:solidFill>
              <a:srgbClr val="3741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6099048" y="5303520"/>
            <a:ext cx="46725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A64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6A64F"/>
                </a:solidFill>
                <a:latin typeface="Calibri"/>
                <a:ea typeface="Calibri"/>
                <a:cs typeface="Calibri"/>
                <a:sym typeface="Calibri"/>
              </a:rPr>
              <a:t>INSTITUTE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6099048" y="5513832"/>
            <a:ext cx="46725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IIT Madras BS Degree Programme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3"/>
          <p:cNvCxnSpPr/>
          <p:nvPr/>
        </p:nvCxnSpPr>
        <p:spPr>
          <a:xfrm>
            <a:off x="548640" y="6272784"/>
            <a:ext cx="11091672" cy="0"/>
          </a:xfrm>
          <a:prstGeom prst="straightConnector1">
            <a:avLst/>
          </a:prstGeom>
          <a:noFill/>
          <a:ln cap="flat" cmpd="sng" w="12700">
            <a:solidFill>
              <a:srgbClr val="2C346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3"/>
          <p:cNvSpPr/>
          <p:nvPr/>
        </p:nvSpPr>
        <p:spPr>
          <a:xfrm>
            <a:off x="548640" y="6382512"/>
            <a:ext cx="10058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A64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6A64F"/>
                </a:solidFill>
                <a:latin typeface="Calibri"/>
                <a:ea typeface="Calibri"/>
                <a:cs typeface="Calibri"/>
                <a:sym typeface="Calibri"/>
              </a:rPr>
              <a:t>IITM BS Degree Programme</a:t>
            </a:r>
            <a:r>
              <a:rPr b="0" i="0" lang="en-US" sz="1000" u="none" cap="none" strike="noStrike">
                <a:solidFill>
                  <a:srgbClr val="CBD8F5"/>
                </a:solidFill>
                <a:latin typeface="Calibri"/>
                <a:ea typeface="Calibri"/>
                <a:cs typeface="Calibri"/>
                <a:sym typeface="Calibri"/>
              </a:rPr>
              <a:t>   ·   Round 3 SIH Internal Hackathon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/>
          <p:nvPr/>
        </p:nvSpPr>
        <p:spPr>
          <a:xfrm>
            <a:off x="548640" y="420624"/>
            <a:ext cx="365760" cy="365760"/>
          </a:xfrm>
          <a:prstGeom prst="ellipse">
            <a:avLst/>
          </a:prstGeom>
          <a:solidFill>
            <a:srgbClr val="781F19"/>
          </a:solidFill>
          <a:ln cap="flat" cmpd="sng" w="15875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1B1F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48640" y="4206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051560" y="40233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SECTION 01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051560" y="621792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Team Details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0981944" y="292608"/>
            <a:ext cx="658368" cy="658368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1B1F3B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work/iitm_bs_logo.png" id="51" name="Google Shape;5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4240" y="374904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4"/>
          <p:cNvSpPr/>
          <p:nvPr/>
        </p:nvSpPr>
        <p:spPr>
          <a:xfrm>
            <a:off x="6309360" y="1417320"/>
            <a:ext cx="5212200" cy="4800600"/>
          </a:xfrm>
          <a:prstGeom prst="roundRect">
            <a:avLst>
              <a:gd fmla="val 1714" name="adj"/>
            </a:avLst>
          </a:prstGeom>
          <a:solidFill>
            <a:srgbClr val="F5F6FA"/>
          </a:solidFill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25400">
              <a:srgbClr val="1B1F3B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48639" y="1417325"/>
            <a:ext cx="10972800" cy="365700"/>
          </a:xfrm>
          <a:prstGeom prst="roundRect">
            <a:avLst>
              <a:gd fmla="val 225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309360" y="1600200"/>
            <a:ext cx="5212080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1010645" y="1417325"/>
            <a:ext cx="3272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Member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283189" y="1417325"/>
            <a:ext cx="3657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7940738" y="1417325"/>
            <a:ext cx="311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Role / Contribution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010645" y="1783084"/>
            <a:ext cx="32727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Team Leader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4283189" y="1783084"/>
            <a:ext cx="36573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150"/>
              <a:buFont typeface="Calibri"/>
              <a:buNone/>
            </a:pPr>
            <a:r>
              <a:rPr i="1" lang="en-US" sz="1450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Yash Kumar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7940738" y="1783084"/>
            <a:ext cx="31188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150"/>
              <a:buFont typeface="Calibri"/>
              <a:buNone/>
            </a:pPr>
            <a:r>
              <a:rPr i="1" lang="en-US" sz="1450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" name="Google Shape;61;p4"/>
          <p:cNvCxnSpPr/>
          <p:nvPr/>
        </p:nvCxnSpPr>
        <p:spPr>
          <a:xfrm>
            <a:off x="6309360" y="2522220"/>
            <a:ext cx="5212080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4"/>
          <p:cNvSpPr/>
          <p:nvPr/>
        </p:nvSpPr>
        <p:spPr>
          <a:xfrm>
            <a:off x="6309360" y="2522220"/>
            <a:ext cx="5212080" cy="73914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1010645" y="2522223"/>
            <a:ext cx="32727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Member 2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283189" y="2522223"/>
            <a:ext cx="36573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150"/>
              <a:buFont typeface="Calibri"/>
              <a:buNone/>
            </a:pPr>
            <a:r>
              <a:rPr i="1" lang="en-US" sz="1450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Amogh Johari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7940738" y="2522223"/>
            <a:ext cx="31188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150"/>
              <a:buFont typeface="Calibri"/>
              <a:buNone/>
            </a:pPr>
            <a:r>
              <a:rPr i="1" lang="en-US" sz="1450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r>
              <a:rPr i="1" lang="en-US" sz="1450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 Developer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4"/>
          <p:cNvCxnSpPr/>
          <p:nvPr/>
        </p:nvCxnSpPr>
        <p:spPr>
          <a:xfrm>
            <a:off x="6309360" y="3261360"/>
            <a:ext cx="5212080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4"/>
          <p:cNvSpPr/>
          <p:nvPr/>
        </p:nvSpPr>
        <p:spPr>
          <a:xfrm>
            <a:off x="1010645" y="3261361"/>
            <a:ext cx="32727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Member 3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283189" y="3261361"/>
            <a:ext cx="36573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150"/>
              <a:buFont typeface="Calibri"/>
              <a:buNone/>
            </a:pPr>
            <a:r>
              <a:rPr i="1" lang="en-US" sz="1450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Nithin Jagannathun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7940738" y="3261361"/>
            <a:ext cx="31188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150"/>
              <a:buFont typeface="Calibri"/>
              <a:buNone/>
            </a:pPr>
            <a:r>
              <a:rPr i="1" lang="en-US" sz="1450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Tester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4"/>
          <p:cNvCxnSpPr/>
          <p:nvPr/>
        </p:nvCxnSpPr>
        <p:spPr>
          <a:xfrm>
            <a:off x="6309360" y="4000500"/>
            <a:ext cx="5212080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4"/>
          <p:cNvSpPr/>
          <p:nvPr/>
        </p:nvSpPr>
        <p:spPr>
          <a:xfrm>
            <a:off x="6309360" y="4000500"/>
            <a:ext cx="5212080" cy="73914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010645" y="4000500"/>
            <a:ext cx="32727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Member 4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4283189" y="4000500"/>
            <a:ext cx="36573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150"/>
              <a:buFont typeface="Calibri"/>
              <a:buNone/>
            </a:pPr>
            <a:r>
              <a:rPr i="1" lang="en-US" sz="1450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Pratham Surana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7940738" y="4000500"/>
            <a:ext cx="31188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150"/>
              <a:buFont typeface="Calibri"/>
              <a:buNone/>
            </a:pPr>
            <a:r>
              <a:rPr i="1" lang="en-US" sz="1450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Backend Developer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4"/>
          <p:cNvCxnSpPr/>
          <p:nvPr/>
        </p:nvCxnSpPr>
        <p:spPr>
          <a:xfrm>
            <a:off x="6309360" y="4739640"/>
            <a:ext cx="5212080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4"/>
          <p:cNvSpPr/>
          <p:nvPr/>
        </p:nvSpPr>
        <p:spPr>
          <a:xfrm>
            <a:off x="1010645" y="4739638"/>
            <a:ext cx="32727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Member 5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4283189" y="4739613"/>
            <a:ext cx="36573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150"/>
              <a:buFont typeface="Calibri"/>
              <a:buNone/>
            </a:pPr>
            <a:r>
              <a:rPr i="1" lang="en-US" sz="1450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Riya Ghosh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7940738" y="4739638"/>
            <a:ext cx="31188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150"/>
              <a:buFont typeface="Calibri"/>
              <a:buNone/>
            </a:pPr>
            <a:r>
              <a:rPr i="1" lang="en-US" sz="1450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Domain Specialist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oogle Shape;79;p4"/>
          <p:cNvCxnSpPr/>
          <p:nvPr/>
        </p:nvCxnSpPr>
        <p:spPr>
          <a:xfrm>
            <a:off x="6309360" y="5478780"/>
            <a:ext cx="5212080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4"/>
          <p:cNvSpPr/>
          <p:nvPr/>
        </p:nvSpPr>
        <p:spPr>
          <a:xfrm>
            <a:off x="6309360" y="5478780"/>
            <a:ext cx="5212080" cy="73914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1010645" y="5478777"/>
            <a:ext cx="32727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Member 6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283189" y="5478777"/>
            <a:ext cx="36573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150"/>
              <a:buFont typeface="Calibri"/>
              <a:buNone/>
            </a:pPr>
            <a:r>
              <a:rPr i="1" lang="en-US" sz="1450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Samarth Patil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940738" y="5478777"/>
            <a:ext cx="31188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150"/>
              <a:buFont typeface="Calibri"/>
              <a:buNone/>
            </a:pPr>
            <a:r>
              <a:rPr i="1" lang="en-US" sz="1450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UI/UX Designer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IITM BS Degree Programme</a:t>
            </a:r>
            <a:r>
              <a:rPr b="0" i="0" lang="en-US" sz="9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   ·   SIH Internal Hackathon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8897112" y="6519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Section 01 of 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Google Shape;86;p4"/>
          <p:cNvCxnSpPr/>
          <p:nvPr/>
        </p:nvCxnSpPr>
        <p:spPr>
          <a:xfrm>
            <a:off x="548640" y="6473952"/>
            <a:ext cx="11091672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/>
          <p:nvPr/>
        </p:nvSpPr>
        <p:spPr>
          <a:xfrm>
            <a:off x="548640" y="420624"/>
            <a:ext cx="365760" cy="365760"/>
          </a:xfrm>
          <a:prstGeom prst="ellipse">
            <a:avLst/>
          </a:prstGeom>
          <a:solidFill>
            <a:srgbClr val="781F19"/>
          </a:solidFill>
          <a:ln cap="flat" cmpd="sng" w="15875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1B1F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548640" y="4206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1051560" y="40233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SECTION 02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1051560" y="621792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Idea / Approach / Proposed Solution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10981944" y="292608"/>
            <a:ext cx="658368" cy="658368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1B1F3B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work/iitm_bs_logo.png" id="97" name="Google Shape;9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4240" y="374904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5"/>
          <p:cNvSpPr/>
          <p:nvPr/>
        </p:nvSpPr>
        <p:spPr>
          <a:xfrm>
            <a:off x="662650" y="1353455"/>
            <a:ext cx="5212200" cy="5120400"/>
          </a:xfrm>
          <a:prstGeom prst="roundRect">
            <a:avLst>
              <a:gd fmla="val 5357" name="adj"/>
            </a:avLst>
          </a:prstGeom>
          <a:solidFill>
            <a:srgbClr val="F5F6FA"/>
          </a:solidFill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25400">
              <a:srgbClr val="1B1F3B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954966" y="1531626"/>
            <a:ext cx="457200" cy="457200"/>
          </a:xfrm>
          <a:prstGeom prst="ellipse">
            <a:avLst/>
          </a:prstGeom>
          <a:solidFill>
            <a:srgbClr val="781F19"/>
          </a:solidFill>
          <a:ln cap="flat" cmpd="sng" w="15875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1B1F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954975" y="1543025"/>
            <a:ext cx="4572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1467550" y="1531625"/>
            <a:ext cx="41604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6345825" y="1341125"/>
            <a:ext cx="5212200" cy="2643300"/>
          </a:xfrm>
          <a:prstGeom prst="roundRect">
            <a:avLst>
              <a:gd fmla="val 5357" name="adj"/>
            </a:avLst>
          </a:prstGeom>
          <a:solidFill>
            <a:srgbClr val="F5F6FA"/>
          </a:solidFill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25400">
              <a:srgbClr val="1B1F3B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6437741" y="1522750"/>
            <a:ext cx="457200" cy="435900"/>
          </a:xfrm>
          <a:prstGeom prst="ellipse">
            <a:avLst/>
          </a:prstGeom>
          <a:solidFill>
            <a:srgbClr val="781F19"/>
          </a:solidFill>
          <a:ln cap="flat" cmpd="sng" w="15875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1B1F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6437741" y="1522750"/>
            <a:ext cx="4572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986025" y="1522753"/>
            <a:ext cx="42102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Our Solution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6345825" y="4155651"/>
            <a:ext cx="5212200" cy="2318100"/>
          </a:xfrm>
          <a:prstGeom prst="roundRect">
            <a:avLst>
              <a:gd fmla="val 5357" name="adj"/>
            </a:avLst>
          </a:prstGeom>
          <a:solidFill>
            <a:srgbClr val="F5F6FA"/>
          </a:solidFill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25400">
              <a:srgbClr val="1B1F3B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6437741" y="4436661"/>
            <a:ext cx="457200" cy="493500"/>
          </a:xfrm>
          <a:prstGeom prst="ellipse">
            <a:avLst/>
          </a:prstGeom>
          <a:solidFill>
            <a:srgbClr val="781F19"/>
          </a:solidFill>
          <a:ln cap="flat" cmpd="sng" w="15875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1B1F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6437741" y="4436661"/>
            <a:ext cx="4572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6986025" y="4416908"/>
            <a:ext cx="42102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Makes It Different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IITM BS Degree Programme</a:t>
            </a:r>
            <a:r>
              <a:rPr b="0" i="0" lang="en-US" sz="9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   ·   SIH Internal Hackathon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8897112" y="6519672"/>
            <a:ext cx="274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Section 02 of 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5"/>
          <p:cNvCxnSpPr/>
          <p:nvPr/>
        </p:nvCxnSpPr>
        <p:spPr>
          <a:xfrm>
            <a:off x="548640" y="6473952"/>
            <a:ext cx="11091672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5"/>
          <p:cNvSpPr txBox="1"/>
          <p:nvPr/>
        </p:nvSpPr>
        <p:spPr>
          <a:xfrm>
            <a:off x="1214350" y="2463423"/>
            <a:ext cx="4253100" cy="3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NER's difficult terrain, extreme weather, and frequent landslides/floods repeatedly cut off road connectivity to remote districts.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Delivery of medicines, food, agri-produce, and construction material gets delayed - causing shortages, cost overruns, and disrupted public services. </a:t>
            </a:r>
            <a:endParaRPr sz="15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/>
              <a:t>No integrated platform exists for real-time accessibility status, disruption prediction, or optimized route planning tailored to NER's terrain.</a:t>
            </a:r>
            <a:endParaRPr sz="1500"/>
          </a:p>
        </p:txBody>
      </p:sp>
      <p:sp>
        <p:nvSpPr>
          <p:cNvPr id="114" name="Google Shape;114;p5"/>
          <p:cNvSpPr txBox="1"/>
          <p:nvPr/>
        </p:nvSpPr>
        <p:spPr>
          <a:xfrm>
            <a:off x="6715325" y="2091467"/>
            <a:ext cx="4505700" cy="18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An AI logistics platform that keeps deliveries moving across NER. </a:t>
            </a:r>
            <a:endParaRPr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/>
              <a:t>Checks weather, terrain, and field reports to route each shipment the safest, fastest way.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/>
              <a:t>Reroutes automatically when risk changes, prioritizing essentials - even offline.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sz="1200"/>
              <a:t>A logistics tool first - built to deliver, not just to watch for disasters.</a:t>
            </a:r>
            <a:endParaRPr sz="1200"/>
          </a:p>
        </p:txBody>
      </p:sp>
      <p:sp>
        <p:nvSpPr>
          <p:cNvPr id="115" name="Google Shape;115;p5"/>
          <p:cNvSpPr txBox="1"/>
          <p:nvPr/>
        </p:nvSpPr>
        <p:spPr>
          <a:xfrm>
            <a:off x="6715325" y="4930300"/>
            <a:ext cx="4735800" cy="13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-US" sz="900">
                <a:solidFill>
                  <a:schemeClr val="dk1"/>
                </a:solidFill>
              </a:rPr>
              <a:t>SMS Fallback &amp; Offline-First Sync:</a:t>
            </a:r>
            <a:r>
              <a:rPr lang="en-US" sz="900">
                <a:solidFill>
                  <a:schemeClr val="dk1"/>
                </a:solidFill>
              </a:rPr>
              <a:t> Unlike standard GPS tools, maintaining tracking and reporting through encrypted SMS packets during total cellular drops.</a:t>
            </a:r>
            <a:endParaRPr sz="9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-US" sz="900">
                <a:solidFill>
                  <a:schemeClr val="dk1"/>
                </a:solidFill>
              </a:rPr>
              <a:t>Proactive Terrain-Specific AI:</a:t>
            </a:r>
            <a:r>
              <a:rPr lang="en-US" sz="900">
                <a:solidFill>
                  <a:schemeClr val="dk1"/>
                </a:solidFill>
              </a:rPr>
              <a:t> Uses predictive risk models (combining geospatial and weather telemetry) to anticipate landslides and floods before they hit, rather than relying on reactive post-disaster alerts.</a:t>
            </a:r>
            <a:endParaRPr sz="9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b="1" lang="en-US" sz="900">
                <a:solidFill>
                  <a:schemeClr val="dk1"/>
                </a:solidFill>
              </a:rPr>
              <a:t>Dynamic Dead Reckoning:</a:t>
            </a:r>
            <a:r>
              <a:rPr lang="en-US" sz="900">
                <a:solidFill>
                  <a:schemeClr val="dk1"/>
                </a:solidFill>
              </a:rPr>
              <a:t> Keeps fleet managers aware of truck locations during GPS blackouts in deep valleys using snap-to-road algorithms.</a:t>
            </a: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/>
          <p:nvPr/>
        </p:nvSpPr>
        <p:spPr>
          <a:xfrm>
            <a:off x="548640" y="420624"/>
            <a:ext cx="365760" cy="365760"/>
          </a:xfrm>
          <a:prstGeom prst="ellipse">
            <a:avLst/>
          </a:prstGeom>
          <a:solidFill>
            <a:srgbClr val="781F19"/>
          </a:solidFill>
          <a:ln cap="flat" cmpd="sng" w="15875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1B1F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48640" y="4206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1051560" y="40233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SECTION 03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1051560" y="621792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Novelty and Uniqueness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10981944" y="292608"/>
            <a:ext cx="658368" cy="658368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1B1F3B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work/iitm_bs_logo.png" id="126" name="Google Shape;1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4240" y="374904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6"/>
          <p:cNvSpPr/>
          <p:nvPr/>
        </p:nvSpPr>
        <p:spPr>
          <a:xfrm>
            <a:off x="804672" y="2240280"/>
            <a:ext cx="4517136" cy="3794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36000"/>
              </a:lnSpc>
              <a:spcBef>
                <a:spcPts val="80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Char char="•"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804675" y="1436181"/>
            <a:ext cx="5212200" cy="4772400"/>
          </a:xfrm>
          <a:prstGeom prst="roundRect">
            <a:avLst>
              <a:gd fmla="val 3673" name="adj"/>
            </a:avLst>
          </a:prstGeom>
          <a:solidFill>
            <a:srgbClr val="FCF1F0"/>
          </a:solidFill>
          <a:ln cap="flat" cmpd="sng" w="12700">
            <a:solidFill>
              <a:srgbClr val="F1D8D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25400">
              <a:srgbClr val="1B1F3B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1060717" y="1619050"/>
            <a:ext cx="470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181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E1814"/>
                </a:solidFill>
                <a:latin typeface="Calibri"/>
                <a:ea typeface="Calibri"/>
                <a:cs typeface="Calibri"/>
                <a:sym typeface="Calibri"/>
              </a:rPr>
              <a:t>EXISTING SOLUTIONS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6"/>
          <p:cNvCxnSpPr/>
          <p:nvPr/>
        </p:nvCxnSpPr>
        <p:spPr>
          <a:xfrm>
            <a:off x="1060717" y="1920802"/>
            <a:ext cx="4700100" cy="0"/>
          </a:xfrm>
          <a:prstGeom prst="straightConnector1">
            <a:avLst/>
          </a:prstGeom>
          <a:noFill/>
          <a:ln cap="flat" cmpd="sng" w="12700">
            <a:solidFill>
              <a:srgbClr val="F1D8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6"/>
          <p:cNvSpPr/>
          <p:nvPr/>
        </p:nvSpPr>
        <p:spPr>
          <a:xfrm>
            <a:off x="1060725" y="2048835"/>
            <a:ext cx="4700100" cy="37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50"/>
              <a:buChar char="•"/>
            </a:pPr>
            <a:r>
              <a:rPr lang="en-US" sz="1350">
                <a:solidFill>
                  <a:srgbClr val="2D3748"/>
                </a:solidFill>
                <a:highlight>
                  <a:srgbClr val="FAF3F1"/>
                </a:highlight>
              </a:rPr>
              <a:t>Standard Navigation &amp; Mapping:</a:t>
            </a:r>
            <a:r>
              <a:rPr lang="en-US" sz="1350">
                <a:solidFill>
                  <a:srgbClr val="4A5568"/>
                </a:solidFill>
                <a:highlight>
                  <a:srgbClr val="FAF3F1"/>
                </a:highlight>
              </a:rPr>
              <a:t> Solutions like </a:t>
            </a:r>
            <a:r>
              <a:rPr lang="en-US" sz="1350">
                <a:solidFill>
                  <a:srgbClr val="B91C1C"/>
                </a:solidFill>
                <a:highlight>
                  <a:srgbClr val="FAF3F1"/>
                </a:highlight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 Maps</a:t>
            </a:r>
            <a:r>
              <a:rPr lang="en-US" sz="1350">
                <a:solidFill>
                  <a:srgbClr val="4A5568"/>
                </a:solidFill>
                <a:highlight>
                  <a:srgbClr val="FAF3F1"/>
                </a:highlight>
              </a:rPr>
              <a:t> and </a:t>
            </a:r>
            <a:r>
              <a:rPr lang="en-US" sz="1350">
                <a:solidFill>
                  <a:srgbClr val="B91C1C"/>
                </a:solidFill>
                <a:highlight>
                  <a:srgbClr val="FAF3F1"/>
                </a:highlight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MapmyIndia</a:t>
            </a:r>
            <a:r>
              <a:rPr lang="en-US" sz="1350">
                <a:solidFill>
                  <a:srgbClr val="4A5568"/>
                </a:solidFill>
                <a:highlight>
                  <a:srgbClr val="FAF3F1"/>
                </a:highlight>
              </a:rPr>
              <a:t> fail in zero-network zones and lack proactive, terrain-specific hazard warnings.</a:t>
            </a:r>
            <a:endParaRPr sz="1350">
              <a:solidFill>
                <a:srgbClr val="4A5568"/>
              </a:solidFill>
              <a:highlight>
                <a:srgbClr val="FAF3F1"/>
              </a:highlight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50"/>
              <a:buChar char="•"/>
            </a:pPr>
            <a:r>
              <a:rPr lang="en-US" sz="1350">
                <a:solidFill>
                  <a:srgbClr val="2D3748"/>
                </a:solidFill>
                <a:highlight>
                  <a:srgbClr val="FAF3F1"/>
                </a:highlight>
              </a:rPr>
              <a:t>Enterprise Fleet Management:</a:t>
            </a:r>
            <a:r>
              <a:rPr lang="en-US" sz="1350">
                <a:solidFill>
                  <a:srgbClr val="4A5568"/>
                </a:solidFill>
                <a:highlight>
                  <a:srgbClr val="FAF3F1"/>
                </a:highlight>
              </a:rPr>
              <a:t> Platforms such as </a:t>
            </a:r>
            <a:r>
              <a:rPr lang="en-US" sz="1350">
                <a:solidFill>
                  <a:srgbClr val="B91C1C"/>
                </a:solidFill>
                <a:highlight>
                  <a:srgbClr val="FAF3F1"/>
                </a:highlight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LocoNav</a:t>
            </a:r>
            <a:r>
              <a:rPr lang="en-US" sz="1350">
                <a:solidFill>
                  <a:srgbClr val="4A5568"/>
                </a:solidFill>
                <a:highlight>
                  <a:srgbClr val="FAF3F1"/>
                </a:highlight>
              </a:rPr>
              <a:t> and </a:t>
            </a:r>
            <a:r>
              <a:rPr lang="en-US" sz="1350">
                <a:solidFill>
                  <a:srgbClr val="B91C1C"/>
                </a:solidFill>
                <a:highlight>
                  <a:srgbClr val="FAF3F1"/>
                </a:highlight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Samsara</a:t>
            </a:r>
            <a:r>
              <a:rPr lang="en-US" sz="1350">
                <a:solidFill>
                  <a:srgbClr val="4A5568"/>
                </a:solidFill>
                <a:highlight>
                  <a:srgbClr val="FAF3F1"/>
                </a:highlight>
              </a:rPr>
              <a:t> lose vehicle visibility entirely in deep valleys without offline SMS fallback capabilities.</a:t>
            </a:r>
            <a:endParaRPr sz="1350">
              <a:solidFill>
                <a:srgbClr val="4A5568"/>
              </a:solidFill>
              <a:highlight>
                <a:srgbClr val="FAF3F1"/>
              </a:highlight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50"/>
              <a:buChar char="•"/>
            </a:pPr>
            <a:r>
              <a:rPr lang="en-US" sz="1350">
                <a:solidFill>
                  <a:srgbClr val="2D3748"/>
                </a:solidFill>
                <a:highlight>
                  <a:srgbClr val="FAF3F1"/>
                </a:highlight>
              </a:rPr>
              <a:t>GIS &amp; Disaster Dashboards:</a:t>
            </a:r>
            <a:r>
              <a:rPr lang="en-US" sz="1350">
                <a:solidFill>
                  <a:srgbClr val="4A5568"/>
                </a:solidFill>
                <a:highlight>
                  <a:srgbClr val="FAF3F1"/>
                </a:highlight>
              </a:rPr>
              <a:t> Tools like </a:t>
            </a:r>
            <a:r>
              <a:rPr lang="en-US" sz="1350">
                <a:solidFill>
                  <a:srgbClr val="B91C1C"/>
                </a:solidFill>
                <a:highlight>
                  <a:srgbClr val="FAF3F1"/>
                </a:highlight>
                <a:uFill>
                  <a:noFill/>
                </a:u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ISRO Bhuvan</a:t>
            </a:r>
            <a:r>
              <a:rPr lang="en-US" sz="1350">
                <a:solidFill>
                  <a:srgbClr val="4A5568"/>
                </a:solidFill>
                <a:highlight>
                  <a:srgbClr val="FAF3F1"/>
                </a:highlight>
              </a:rPr>
              <a:t> or </a:t>
            </a:r>
            <a:r>
              <a:rPr lang="en-US" sz="1350">
                <a:solidFill>
                  <a:srgbClr val="B91C1C"/>
                </a:solidFill>
                <a:highlight>
                  <a:srgbClr val="FAF3F1"/>
                </a:highlight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ArcGIS</a:t>
            </a:r>
            <a:r>
              <a:rPr lang="en-US" sz="1350">
                <a:solidFill>
                  <a:srgbClr val="4A5568"/>
                </a:solidFill>
                <a:highlight>
                  <a:srgbClr val="FAF3F1"/>
                </a:highlight>
              </a:rPr>
              <a:t> are siloed and not integrated with live logistics and crowdsourced incident reporting.</a:t>
            </a:r>
            <a:endParaRPr sz="1350">
              <a:solidFill>
                <a:srgbClr val="4A5568"/>
              </a:solidFill>
              <a:highlight>
                <a:srgbClr val="FAF3F1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6B4A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6309350" y="1436170"/>
            <a:ext cx="5212200" cy="4772400"/>
          </a:xfrm>
          <a:prstGeom prst="roundRect">
            <a:avLst>
              <a:gd fmla="val 3462" name="adj"/>
            </a:avLst>
          </a:prstGeom>
          <a:solidFill>
            <a:srgbClr val="EFF7F1"/>
          </a:solidFill>
          <a:ln cap="flat" cmpd="sng" w="12700">
            <a:solidFill>
              <a:srgbClr val="CFE8D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25400">
              <a:srgbClr val="1B1F3B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6565392" y="1618985"/>
            <a:ext cx="470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5C33"/>
              </a:buClr>
              <a:buSzPts val="1100"/>
              <a:buFont typeface="Calibri"/>
              <a:buNone/>
            </a:pPr>
            <a:r>
              <a:rPr b="1" lang="en-US" sz="1350">
                <a:solidFill>
                  <a:srgbClr val="1D5632"/>
                </a:solidFill>
                <a:highlight>
                  <a:srgbClr val="ECF3EB"/>
                </a:highlight>
              </a:rPr>
              <a:t>What's Genuinely New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6"/>
          <p:cNvCxnSpPr/>
          <p:nvPr/>
        </p:nvCxnSpPr>
        <p:spPr>
          <a:xfrm>
            <a:off x="6565392" y="1970037"/>
            <a:ext cx="4700100" cy="0"/>
          </a:xfrm>
          <a:prstGeom prst="straightConnector1">
            <a:avLst/>
          </a:prstGeom>
          <a:noFill/>
          <a:ln cap="flat" cmpd="sng" w="12700">
            <a:solidFill>
              <a:srgbClr val="CFE8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6"/>
          <p:cNvSpPr/>
          <p:nvPr/>
        </p:nvSpPr>
        <p:spPr>
          <a:xfrm>
            <a:off x="6565400" y="2048825"/>
            <a:ext cx="4700100" cy="40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50"/>
              <a:buChar char="•"/>
            </a:pPr>
            <a:r>
              <a:rPr lang="en-US" sz="1350">
                <a:solidFill>
                  <a:srgbClr val="CC4125"/>
                </a:solidFill>
                <a:highlight>
                  <a:srgbClr val="ECF3EB"/>
                </a:highlight>
              </a:rPr>
              <a:t>Offline-First Architecture &amp; SMS Fallback</a:t>
            </a:r>
            <a:r>
              <a:rPr lang="en-US" sz="1350">
                <a:solidFill>
                  <a:srgbClr val="2D3748"/>
                </a:solidFill>
                <a:highlight>
                  <a:srgbClr val="ECF3EB"/>
                </a:highlight>
              </a:rPr>
              <a:t>:</a:t>
            </a:r>
            <a:r>
              <a:rPr lang="en-US" sz="1350">
                <a:solidFill>
                  <a:srgbClr val="4A5568"/>
                </a:solidFill>
                <a:highlight>
                  <a:srgbClr val="ECF3EB"/>
                </a:highlight>
              </a:rPr>
              <a:t> Ensures continuous tracking and field reporting even during total 4G network drops via localized caching and SMS packets.</a:t>
            </a:r>
            <a:endParaRPr sz="1350">
              <a:solidFill>
                <a:srgbClr val="4A5568"/>
              </a:solidFill>
              <a:highlight>
                <a:srgbClr val="ECF3EB"/>
              </a:highlight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50"/>
              <a:buChar char="•"/>
            </a:pPr>
            <a:r>
              <a:rPr lang="en-US" sz="1350">
                <a:solidFill>
                  <a:srgbClr val="A61C00"/>
                </a:solidFill>
                <a:highlight>
                  <a:srgbClr val="ECF3EB"/>
                </a:highlight>
              </a:rPr>
              <a:t>AI Predictive Risk Engine</a:t>
            </a:r>
            <a:r>
              <a:rPr lang="en-US" sz="1350">
                <a:solidFill>
                  <a:srgbClr val="2D3748"/>
                </a:solidFill>
                <a:highlight>
                  <a:srgbClr val="ECF3EB"/>
                </a:highlight>
              </a:rPr>
              <a:t>:</a:t>
            </a:r>
            <a:r>
              <a:rPr lang="en-US" sz="1350">
                <a:solidFill>
                  <a:srgbClr val="4A5568"/>
                </a:solidFill>
                <a:highlight>
                  <a:srgbClr val="ECF3EB"/>
                </a:highlight>
              </a:rPr>
              <a:t> Fuses geospatial data and weather telemetry to forecast landslides and floods </a:t>
            </a:r>
            <a:r>
              <a:rPr i="1" lang="en-US" sz="1350">
                <a:solidFill>
                  <a:srgbClr val="4A5568"/>
                </a:solidFill>
                <a:highlight>
                  <a:srgbClr val="ECF3EB"/>
                </a:highlight>
              </a:rPr>
              <a:t>proactively</a:t>
            </a:r>
            <a:r>
              <a:rPr lang="en-US" sz="1350">
                <a:solidFill>
                  <a:srgbClr val="4A5568"/>
                </a:solidFill>
                <a:highlight>
                  <a:srgbClr val="ECF3EB"/>
                </a:highlight>
              </a:rPr>
              <a:t>, rather than reacting post-disaster.</a:t>
            </a:r>
            <a:endParaRPr sz="1350">
              <a:solidFill>
                <a:srgbClr val="4A5568"/>
              </a:solidFill>
              <a:highlight>
                <a:srgbClr val="ECF3EB"/>
              </a:highlight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50"/>
              <a:buChar char="•"/>
            </a:pPr>
            <a:r>
              <a:rPr lang="en-US" sz="1350">
                <a:solidFill>
                  <a:srgbClr val="CC4125"/>
                </a:solidFill>
                <a:highlight>
                  <a:srgbClr val="ECF3EB"/>
                </a:highlight>
              </a:rPr>
              <a:t>Dynamic Dead Reckoning</a:t>
            </a:r>
            <a:r>
              <a:rPr lang="en-US" sz="1350">
                <a:solidFill>
                  <a:srgbClr val="2D3748"/>
                </a:solidFill>
                <a:highlight>
                  <a:srgbClr val="ECF3EB"/>
                </a:highlight>
              </a:rPr>
              <a:t>:</a:t>
            </a:r>
            <a:r>
              <a:rPr lang="en-US" sz="1350">
                <a:solidFill>
                  <a:srgbClr val="4A5568"/>
                </a:solidFill>
                <a:highlight>
                  <a:srgbClr val="ECF3EB"/>
                </a:highlight>
              </a:rPr>
              <a:t> Advanced snap-to-road algorithms maintain accurate truck visibility for fleet managers during complete GPS blackouts in deep valleys.</a:t>
            </a:r>
            <a:endParaRPr sz="1350">
              <a:solidFill>
                <a:srgbClr val="4A5568"/>
              </a:solidFill>
              <a:highlight>
                <a:srgbClr val="ECF3EB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436B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IITM BS Degree Programme</a:t>
            </a:r>
            <a:r>
              <a:rPr b="0" i="0" lang="en-US" sz="9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   ·   SIH Internal Hackathon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8897112" y="6519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Section 03 of 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" name="Google Shape;138;p6"/>
          <p:cNvCxnSpPr/>
          <p:nvPr/>
        </p:nvCxnSpPr>
        <p:spPr>
          <a:xfrm>
            <a:off x="548640" y="6473952"/>
            <a:ext cx="11091672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/>
          <p:nvPr/>
        </p:nvSpPr>
        <p:spPr>
          <a:xfrm>
            <a:off x="548640" y="420624"/>
            <a:ext cx="365760" cy="365760"/>
          </a:xfrm>
          <a:prstGeom prst="ellipse">
            <a:avLst/>
          </a:prstGeom>
          <a:solidFill>
            <a:srgbClr val="781F19"/>
          </a:solidFill>
          <a:ln cap="flat" cmpd="sng" w="15875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1B1F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548640" y="4206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051560" y="40233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SECTION 04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051560" y="621792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Technical Approach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10981944" y="292608"/>
            <a:ext cx="658368" cy="658368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1B1F3B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work/iitm_bs_logo.png" id="149" name="Google Shape;14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4240" y="374904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7"/>
          <p:cNvSpPr/>
          <p:nvPr/>
        </p:nvSpPr>
        <p:spPr>
          <a:xfrm>
            <a:off x="914400" y="1444750"/>
            <a:ext cx="10606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SUGGESTED: PROCESS FLOW DIAGRAM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914400" y="1847085"/>
            <a:ext cx="1674900" cy="914400"/>
          </a:xfrm>
          <a:prstGeom prst="roundRect">
            <a:avLst>
              <a:gd fmla="val 10000" name="adj"/>
            </a:avLst>
          </a:prstGeom>
          <a:solidFill>
            <a:srgbClr val="F5F6FA"/>
          </a:solidFill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914375" y="1865360"/>
            <a:ext cx="1674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1A365D"/>
                </a:solidFill>
              </a:rPr>
              <a:t>[ Input ]</a:t>
            </a:r>
            <a:endParaRPr b="1" sz="1200">
              <a:solidFill>
                <a:srgbClr val="1A365D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highlight>
                  <a:srgbClr val="F8FAFC"/>
                </a:highlight>
              </a:rPr>
              <a:t>GPS, Weather APIs, Field Reports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b="1" sz="10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2589175" y="1847085"/>
            <a:ext cx="558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822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3822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3147433" y="1847085"/>
            <a:ext cx="1674900" cy="914400"/>
          </a:xfrm>
          <a:prstGeom prst="roundRect">
            <a:avLst>
              <a:gd fmla="val 10000" name="adj"/>
            </a:avLst>
          </a:prstGeom>
          <a:solidFill>
            <a:srgbClr val="F5F6FA"/>
          </a:solidFill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3147433" y="1847085"/>
            <a:ext cx="1674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1A365D"/>
                </a:solidFill>
              </a:rPr>
              <a:t>[ Process ]</a:t>
            </a:r>
            <a:endParaRPr b="1" sz="1200">
              <a:solidFill>
                <a:srgbClr val="1A365D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highlight>
                  <a:srgbClr val="F8FAFC"/>
                </a:highlight>
              </a:rPr>
              <a:t>Spatial Data Ingestion, Offline Sync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b="1" sz="10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822207" y="1847085"/>
            <a:ext cx="558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822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3822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5380466" y="1847085"/>
            <a:ext cx="1674900" cy="914400"/>
          </a:xfrm>
          <a:prstGeom prst="roundRect">
            <a:avLst>
              <a:gd fmla="val 10000" name="adj"/>
            </a:avLst>
          </a:prstGeom>
          <a:solidFill>
            <a:srgbClr val="F5F6FA"/>
          </a:solidFill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5380466" y="1847085"/>
            <a:ext cx="1674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1A365D"/>
                </a:solidFill>
              </a:rPr>
              <a:t>[ Logic ]</a:t>
            </a:r>
            <a:endParaRPr b="1" sz="1200">
              <a:solidFill>
                <a:srgbClr val="1A365D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highlight>
                  <a:srgbClr val="F8FAFC"/>
                </a:highlight>
              </a:rPr>
              <a:t>AI Risk Prediction, Graph Routing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b="1" sz="10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7055240" y="1847085"/>
            <a:ext cx="558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822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3822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7613498" y="1847085"/>
            <a:ext cx="1674900" cy="914400"/>
          </a:xfrm>
          <a:prstGeom prst="roundRect">
            <a:avLst>
              <a:gd fmla="val 10000" name="adj"/>
            </a:avLst>
          </a:prstGeom>
          <a:solidFill>
            <a:srgbClr val="F5F6FA"/>
          </a:solidFill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7613498" y="1847085"/>
            <a:ext cx="1674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1A365D"/>
                </a:solidFill>
              </a:rPr>
              <a:t>[ Output ]</a:t>
            </a:r>
            <a:endParaRPr b="1" sz="1200">
              <a:solidFill>
                <a:srgbClr val="1A365D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highlight>
                  <a:srgbClr val="F8FAFC"/>
                </a:highlight>
              </a:rPr>
              <a:t>Dynamic Alerts, Alternate Routes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b="1" sz="10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9288273" y="1847085"/>
            <a:ext cx="558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3822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B3822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9846531" y="1847085"/>
            <a:ext cx="1674900" cy="914400"/>
          </a:xfrm>
          <a:prstGeom prst="roundRect">
            <a:avLst>
              <a:gd fmla="val 10000" name="adj"/>
            </a:avLst>
          </a:prstGeom>
          <a:solidFill>
            <a:srgbClr val="F5F6FA"/>
          </a:solidFill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B1F3B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9846531" y="1847085"/>
            <a:ext cx="1674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1A365D"/>
                </a:solidFill>
              </a:rPr>
              <a:t>[ User ]</a:t>
            </a:r>
            <a:endParaRPr b="1" sz="1200">
              <a:solidFill>
                <a:srgbClr val="1A365D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lang="en-US" sz="1150">
                <a:solidFill>
                  <a:srgbClr val="1E293B"/>
                </a:solidFill>
                <a:highlight>
                  <a:srgbClr val="F8FAFC"/>
                </a:highlight>
              </a:rPr>
              <a:t>Fleet Managers, Govt Authorities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b="1" sz="1000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914400" y="3035803"/>
            <a:ext cx="10607100" cy="3182100"/>
          </a:xfrm>
          <a:prstGeom prst="roundRect">
            <a:avLst>
              <a:gd fmla="val 2586" name="adj"/>
            </a:avLst>
          </a:prstGeom>
          <a:solidFill>
            <a:srgbClr val="F5F6FA"/>
          </a:solidFill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25400">
              <a:srgbClr val="1B1F3B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1435441" y="3218682"/>
            <a:ext cx="9564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7" name="Google Shape;167;p7"/>
          <p:cNvCxnSpPr/>
          <p:nvPr/>
        </p:nvCxnSpPr>
        <p:spPr>
          <a:xfrm>
            <a:off x="1435441" y="3529578"/>
            <a:ext cx="9564900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7"/>
          <p:cNvSpPr/>
          <p:nvPr/>
        </p:nvSpPr>
        <p:spPr>
          <a:xfrm>
            <a:off x="1435441" y="3675881"/>
            <a:ext cx="9564900" cy="24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50"/>
              <a:buChar char="•"/>
            </a:pPr>
            <a:r>
              <a:rPr lang="en-US" sz="1350">
                <a:solidFill>
                  <a:srgbClr val="2D3748"/>
                </a:solidFill>
              </a:rPr>
              <a:t>[ Frontend:</a:t>
            </a:r>
            <a:r>
              <a:rPr lang="en-US" sz="1350">
                <a:solidFill>
                  <a:srgbClr val="4A5568"/>
                </a:solidFill>
              </a:rPr>
              <a:t> </a:t>
            </a:r>
            <a:r>
              <a:rPr i="1" lang="en-US" sz="1350">
                <a:solidFill>
                  <a:srgbClr val="64748B"/>
                </a:solidFill>
              </a:rPr>
              <a:t>React.js (Web Dashboard), Flutter (Offline-first Mobile PWA)</a:t>
            </a:r>
            <a:r>
              <a:rPr lang="en-US" sz="1350">
                <a:solidFill>
                  <a:srgbClr val="4A5568"/>
                </a:solidFill>
              </a:rPr>
              <a:t> </a:t>
            </a:r>
            <a:r>
              <a:rPr lang="en-US" sz="1350">
                <a:solidFill>
                  <a:srgbClr val="2D3748"/>
                </a:solidFill>
              </a:rPr>
              <a:t>]</a:t>
            </a:r>
            <a:endParaRPr sz="1350">
              <a:solidFill>
                <a:srgbClr val="2D3748"/>
              </a:solidFill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50"/>
              <a:buChar char="•"/>
            </a:pPr>
            <a:r>
              <a:rPr lang="en-US" sz="1350">
                <a:solidFill>
                  <a:srgbClr val="2D3748"/>
                </a:solidFill>
              </a:rPr>
              <a:t>[ Backend:</a:t>
            </a:r>
            <a:r>
              <a:rPr lang="en-US" sz="1350">
                <a:solidFill>
                  <a:srgbClr val="4A5568"/>
                </a:solidFill>
              </a:rPr>
              <a:t> </a:t>
            </a:r>
            <a:r>
              <a:rPr i="1" lang="en-US" sz="1350">
                <a:solidFill>
                  <a:srgbClr val="64748B"/>
                </a:solidFill>
              </a:rPr>
              <a:t>Python / FastAPI (AI &amp; GIS Integration), Node.js (Real-time Services)</a:t>
            </a:r>
            <a:r>
              <a:rPr lang="en-US" sz="1350">
                <a:solidFill>
                  <a:srgbClr val="4A5568"/>
                </a:solidFill>
              </a:rPr>
              <a:t> </a:t>
            </a:r>
            <a:r>
              <a:rPr lang="en-US" sz="1350">
                <a:solidFill>
                  <a:srgbClr val="2D3748"/>
                </a:solidFill>
              </a:rPr>
              <a:t>]</a:t>
            </a:r>
            <a:endParaRPr sz="1350">
              <a:solidFill>
                <a:srgbClr val="2D3748"/>
              </a:solidFill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50"/>
              <a:buChar char="•"/>
            </a:pPr>
            <a:r>
              <a:rPr lang="en-US" sz="1350">
                <a:solidFill>
                  <a:srgbClr val="2D3748"/>
                </a:solidFill>
              </a:rPr>
              <a:t>[ Database:</a:t>
            </a:r>
            <a:r>
              <a:rPr lang="en-US" sz="1350">
                <a:solidFill>
                  <a:srgbClr val="4A5568"/>
                </a:solidFill>
              </a:rPr>
              <a:t> </a:t>
            </a:r>
            <a:r>
              <a:rPr i="1" lang="en-US" sz="1350">
                <a:solidFill>
                  <a:srgbClr val="64748B"/>
                </a:solidFill>
              </a:rPr>
              <a:t>PostgreSQL + PostGIS (Spatial), InfluxDB (Time-series), SQLite (Local)</a:t>
            </a:r>
            <a:r>
              <a:rPr lang="en-US" sz="1350">
                <a:solidFill>
                  <a:srgbClr val="4A5568"/>
                </a:solidFill>
              </a:rPr>
              <a:t> </a:t>
            </a:r>
            <a:r>
              <a:rPr lang="en-US" sz="1350">
                <a:solidFill>
                  <a:srgbClr val="2D3748"/>
                </a:solidFill>
              </a:rPr>
              <a:t>]</a:t>
            </a:r>
            <a:endParaRPr sz="1350">
              <a:solidFill>
                <a:srgbClr val="2D3748"/>
              </a:solidFill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50"/>
              <a:buChar char="•"/>
            </a:pPr>
            <a:r>
              <a:rPr lang="en-US" sz="1350">
                <a:solidFill>
                  <a:srgbClr val="2D3748"/>
                </a:solidFill>
              </a:rPr>
              <a:t>[ AI/ML or other core tech:</a:t>
            </a:r>
            <a:r>
              <a:rPr lang="en-US" sz="1350">
                <a:solidFill>
                  <a:srgbClr val="4A5568"/>
                </a:solidFill>
              </a:rPr>
              <a:t> </a:t>
            </a:r>
            <a:r>
              <a:rPr i="1" lang="en-US" sz="1350">
                <a:solidFill>
                  <a:srgbClr val="64748B"/>
                </a:solidFill>
              </a:rPr>
              <a:t>PyTorch (Risk Engine), NetworkX (Routing), GeoServer</a:t>
            </a:r>
            <a:r>
              <a:rPr lang="en-US" sz="1350">
                <a:solidFill>
                  <a:srgbClr val="4A5568"/>
                </a:solidFill>
              </a:rPr>
              <a:t> </a:t>
            </a:r>
            <a:r>
              <a:rPr lang="en-US" sz="1350">
                <a:solidFill>
                  <a:srgbClr val="2D3748"/>
                </a:solidFill>
              </a:rPr>
              <a:t>]</a:t>
            </a:r>
            <a:endParaRPr sz="1350">
              <a:solidFill>
                <a:srgbClr val="2D3748"/>
              </a:solidFill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50"/>
              <a:buChar char="•"/>
            </a:pPr>
            <a:r>
              <a:rPr lang="en-US" sz="1350">
                <a:solidFill>
                  <a:srgbClr val="2D3748"/>
                </a:solidFill>
              </a:rPr>
              <a:t>[ Hosting / deployment:</a:t>
            </a:r>
            <a:r>
              <a:rPr lang="en-US" sz="1350">
                <a:solidFill>
                  <a:srgbClr val="4A5568"/>
                </a:solidFill>
              </a:rPr>
              <a:t> </a:t>
            </a:r>
            <a:r>
              <a:rPr i="1" lang="en-US" sz="1350">
                <a:solidFill>
                  <a:srgbClr val="64748B"/>
                </a:solidFill>
              </a:rPr>
              <a:t>Cloud-agnostic (AWS/GCP), Docker, Kubernetes scaling</a:t>
            </a:r>
            <a:r>
              <a:rPr lang="en-US" sz="1350">
                <a:solidFill>
                  <a:srgbClr val="4A5568"/>
                </a:solidFill>
              </a:rPr>
              <a:t> </a:t>
            </a:r>
            <a:r>
              <a:rPr lang="en-US" sz="1350">
                <a:solidFill>
                  <a:srgbClr val="2D3748"/>
                </a:solidFill>
              </a:rPr>
              <a:t>]</a:t>
            </a:r>
            <a:endParaRPr sz="1350">
              <a:solidFill>
                <a:srgbClr val="2D3748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i="1" sz="1250">
              <a:solidFill>
                <a:srgbClr val="666B7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IITM BS Degree Programme</a:t>
            </a:r>
            <a:r>
              <a:rPr b="0" i="0" lang="en-US" sz="9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   ·   SIH Internal Hackathon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8897112" y="6519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Section 04 of 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" name="Google Shape;171;p7"/>
          <p:cNvCxnSpPr/>
          <p:nvPr/>
        </p:nvCxnSpPr>
        <p:spPr>
          <a:xfrm>
            <a:off x="548640" y="6473952"/>
            <a:ext cx="11091672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"/>
          <p:cNvSpPr/>
          <p:nvPr/>
        </p:nvSpPr>
        <p:spPr>
          <a:xfrm>
            <a:off x="548640" y="420624"/>
            <a:ext cx="365760" cy="365760"/>
          </a:xfrm>
          <a:prstGeom prst="ellipse">
            <a:avLst/>
          </a:prstGeom>
          <a:solidFill>
            <a:srgbClr val="781F19"/>
          </a:solidFill>
          <a:ln cap="flat" cmpd="sng" w="15875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1B1F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548640" y="4206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1051560" y="40233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SECTION 05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1051550" y="621800"/>
            <a:ext cx="9598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Feasibility and Viability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10981944" y="292608"/>
            <a:ext cx="658368" cy="658368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1B1F3B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work/iitm_bs_logo.png" id="182" name="Google Shape;18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4240" y="374904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8"/>
          <p:cNvSpPr/>
          <p:nvPr/>
        </p:nvSpPr>
        <p:spPr>
          <a:xfrm>
            <a:off x="1051525" y="1444750"/>
            <a:ext cx="4977600" cy="4800600"/>
          </a:xfrm>
          <a:prstGeom prst="roundRect">
            <a:avLst>
              <a:gd fmla="val 3333" name="adj"/>
            </a:avLst>
          </a:prstGeom>
          <a:solidFill>
            <a:srgbClr val="FCF1F0"/>
          </a:solidFill>
          <a:ln cap="flat" cmpd="sng" w="12700">
            <a:solidFill>
              <a:srgbClr val="F1D8D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25400">
              <a:srgbClr val="1B1F3B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1289304" y="1673345"/>
            <a:ext cx="402300" cy="402300"/>
          </a:xfrm>
          <a:prstGeom prst="ellipse">
            <a:avLst/>
          </a:prstGeom>
          <a:solidFill>
            <a:srgbClr val="781F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1289304" y="1673345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1837944" y="1600193"/>
            <a:ext cx="1463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1814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5E1814"/>
                </a:solidFill>
                <a:latin typeface="Calibri"/>
                <a:ea typeface="Calibri"/>
                <a:cs typeface="Calibri"/>
                <a:sym typeface="Calibri"/>
              </a:rPr>
              <a:t>Potential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1814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5E1814"/>
                </a:solidFill>
                <a:latin typeface="Calibri"/>
                <a:ea typeface="Calibri"/>
                <a:cs typeface="Calibri"/>
                <a:sym typeface="Calibri"/>
              </a:rPr>
              <a:t>Challenges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1325868" y="2359150"/>
            <a:ext cx="4528800" cy="3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50"/>
              <a:buChar char="•"/>
            </a:pPr>
            <a:r>
              <a:rPr lang="en-US" sz="1350">
                <a:solidFill>
                  <a:schemeClr val="accent1"/>
                </a:solidFill>
              </a:rPr>
              <a:t>Network Blackouts:</a:t>
            </a:r>
            <a:r>
              <a:rPr lang="en-US" sz="1350">
                <a:solidFill>
                  <a:srgbClr val="4A5568"/>
                </a:solidFill>
              </a:rPr>
              <a:t> Intermittent internet and complete loss of cellular signal in remote valleys.</a:t>
            </a:r>
            <a:endParaRPr sz="1350">
              <a:solidFill>
                <a:srgbClr val="4A5568"/>
              </a:solidFill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50"/>
              <a:buChar char="•"/>
            </a:pPr>
            <a:r>
              <a:rPr lang="en-US" sz="1350">
                <a:solidFill>
                  <a:schemeClr val="accent1"/>
                </a:solidFill>
              </a:rPr>
              <a:t>Hardware Costs:</a:t>
            </a:r>
            <a:r>
              <a:rPr lang="en-US" sz="1350">
                <a:solidFill>
                  <a:srgbClr val="4A5568"/>
                </a:solidFill>
              </a:rPr>
              <a:t> High capital expense of installing specialized IoT/telematics devices in all local trucks.</a:t>
            </a:r>
            <a:endParaRPr sz="1350">
              <a:solidFill>
                <a:srgbClr val="4A5568"/>
              </a:solidFill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50"/>
              <a:buChar char="•"/>
            </a:pPr>
            <a:r>
              <a:rPr lang="en-US" sz="1350">
                <a:solidFill>
                  <a:schemeClr val="accent1"/>
                </a:solidFill>
              </a:rPr>
              <a:t>Data Sparsity:</a:t>
            </a:r>
            <a:r>
              <a:rPr lang="en-US" sz="1350">
                <a:solidFill>
                  <a:srgbClr val="4A5568"/>
                </a:solidFill>
              </a:rPr>
              <a:t> Lack of granular historical weather and landslide data for accurate AI modeling in specific micro-regions.</a:t>
            </a:r>
            <a:endParaRPr sz="1350">
              <a:solidFill>
                <a:srgbClr val="4A5568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6B4A4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6408247" y="1421896"/>
            <a:ext cx="5149800" cy="4800600"/>
          </a:xfrm>
          <a:prstGeom prst="roundRect">
            <a:avLst>
              <a:gd fmla="val 3333" name="adj"/>
            </a:avLst>
          </a:prstGeom>
          <a:solidFill>
            <a:srgbClr val="EFF7F1"/>
          </a:solidFill>
          <a:ln cap="flat" cmpd="sng" w="12700">
            <a:solidFill>
              <a:srgbClr val="CFE8D6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25400">
              <a:srgbClr val="1B1F3B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6666678" y="1645929"/>
            <a:ext cx="405900" cy="402300"/>
          </a:xfrm>
          <a:prstGeom prst="ellipse">
            <a:avLst/>
          </a:prstGeom>
          <a:solidFill>
            <a:srgbClr val="2E7D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6666678" y="1645929"/>
            <a:ext cx="405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7220412" y="1572777"/>
            <a:ext cx="1476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5C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F5C33"/>
                </a:solidFill>
                <a:latin typeface="Calibri"/>
                <a:ea typeface="Calibri"/>
                <a:cs typeface="Calibri"/>
                <a:sym typeface="Calibri"/>
              </a:rPr>
              <a:t>Mitigation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5C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F5C33"/>
                </a:solidFill>
                <a:latin typeface="Calibri"/>
                <a:ea typeface="Calibri"/>
                <a:cs typeface="Calibri"/>
                <a:sym typeface="Calibri"/>
              </a:rPr>
              <a:t>Strategy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6703609" y="2331725"/>
            <a:ext cx="4673700" cy="3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50"/>
              <a:buChar char="•"/>
            </a:pPr>
            <a:r>
              <a:rPr lang="en-US" sz="1350">
                <a:solidFill>
                  <a:schemeClr val="accent1"/>
                </a:solidFill>
              </a:rPr>
              <a:t>Offline-First &amp; SMS</a:t>
            </a:r>
            <a:r>
              <a:rPr lang="en-US" sz="1350">
                <a:solidFill>
                  <a:srgbClr val="2D3748"/>
                </a:solidFill>
              </a:rPr>
              <a:t>:</a:t>
            </a:r>
            <a:r>
              <a:rPr lang="en-US" sz="1350">
                <a:solidFill>
                  <a:srgbClr val="4A5568"/>
                </a:solidFill>
              </a:rPr>
              <a:t> </a:t>
            </a:r>
            <a:r>
              <a:rPr lang="en-US" sz="1150">
                <a:solidFill>
                  <a:srgbClr val="4A5568"/>
                </a:solidFill>
              </a:rPr>
              <a:t>Local caching on the mobile app with encrypted, compact payloads for critical data. When 4G/Wi-Fi is unavailable, essential alerts can be transmitted through SMS or satellite-based low-bandwidth networks. Background sync automatically updates the central database once connectivity is restored. </a:t>
            </a:r>
            <a:endParaRPr sz="1150">
              <a:solidFill>
                <a:srgbClr val="4A5568"/>
              </a:solidFill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50"/>
              <a:buChar char="•"/>
            </a:pPr>
            <a:r>
              <a:rPr lang="en-US" sz="1350">
                <a:solidFill>
                  <a:schemeClr val="accent1"/>
                </a:solidFill>
              </a:rPr>
              <a:t>Smartphone as Sensor</a:t>
            </a:r>
            <a:r>
              <a:rPr lang="en-US" sz="1350">
                <a:solidFill>
                  <a:srgbClr val="2D3748"/>
                </a:solidFill>
              </a:rPr>
              <a:t>:</a:t>
            </a:r>
            <a:r>
              <a:rPr lang="en-US" sz="1350">
                <a:solidFill>
                  <a:srgbClr val="4A5568"/>
                </a:solidFill>
              </a:rPr>
              <a:t> Leverage drivers' existing smartphones (GPS, accelerometer) via a PWA, minimizing hardware dependency.</a:t>
            </a:r>
            <a:endParaRPr sz="1350">
              <a:solidFill>
                <a:srgbClr val="4A5568"/>
              </a:solidFill>
            </a:endParaRPr>
          </a:p>
          <a:p>
            <a:pPr indent="-3143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50"/>
              <a:buChar char="•"/>
            </a:pPr>
            <a:r>
              <a:rPr lang="en-US" sz="1350">
                <a:solidFill>
                  <a:schemeClr val="accent1"/>
                </a:solidFill>
              </a:rPr>
              <a:t>Crowdsourced Ground-Truth</a:t>
            </a:r>
            <a:r>
              <a:rPr lang="en-US" sz="1350">
                <a:solidFill>
                  <a:srgbClr val="2D3748"/>
                </a:solidFill>
              </a:rPr>
              <a:t>:</a:t>
            </a:r>
            <a:r>
              <a:rPr lang="en-US" sz="1350">
                <a:solidFill>
                  <a:srgbClr val="4A5568"/>
                </a:solidFill>
              </a:rPr>
              <a:t> Augment IMD/ISRO data with continuous, geo-tagged field reports from local officials to fine-tune AI models.</a:t>
            </a:r>
            <a:endParaRPr sz="1350">
              <a:solidFill>
                <a:srgbClr val="4A5568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436B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IITM BS Degree Programme</a:t>
            </a:r>
            <a:r>
              <a:rPr b="0" i="0" lang="en-US" sz="9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   ·   SIH Internal Hackathon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8897112" y="6519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Section 05 of 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8"/>
          <p:cNvCxnSpPr/>
          <p:nvPr/>
        </p:nvCxnSpPr>
        <p:spPr>
          <a:xfrm>
            <a:off x="548640" y="6473952"/>
            <a:ext cx="11091672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/>
          <p:nvPr/>
        </p:nvSpPr>
        <p:spPr>
          <a:xfrm>
            <a:off x="548640" y="420624"/>
            <a:ext cx="365760" cy="365760"/>
          </a:xfrm>
          <a:prstGeom prst="ellipse">
            <a:avLst/>
          </a:prstGeom>
          <a:solidFill>
            <a:srgbClr val="781F19"/>
          </a:solidFill>
          <a:ln cap="flat" cmpd="sng" w="15875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1B1F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548640" y="4206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1051560" y="40233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SECTION 06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1051560" y="621792"/>
            <a:ext cx="9509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Impact and Benefit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10981944" y="292608"/>
            <a:ext cx="658368" cy="658368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1B1F3B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work/iitm_bs_logo.png" id="206" name="Google Shape;20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4240" y="374904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9"/>
          <p:cNvSpPr/>
          <p:nvPr/>
        </p:nvSpPr>
        <p:spPr>
          <a:xfrm>
            <a:off x="914389" y="1335000"/>
            <a:ext cx="10725900" cy="1536300"/>
          </a:xfrm>
          <a:prstGeom prst="roundRect">
            <a:avLst>
              <a:gd fmla="val 5357" name="adj"/>
            </a:avLst>
          </a:prstGeom>
          <a:solidFill>
            <a:srgbClr val="F5F6FA"/>
          </a:solidFill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25400">
              <a:srgbClr val="1B1F3B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1133866" y="1554451"/>
            <a:ext cx="457200" cy="457200"/>
          </a:xfrm>
          <a:prstGeom prst="ellipse">
            <a:avLst/>
          </a:prstGeom>
          <a:solidFill>
            <a:srgbClr val="D6A64F"/>
          </a:solidFill>
          <a:ln cap="flat" cmpd="sng" w="15875">
            <a:solidFill>
              <a:srgbClr val="781F1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1B1F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1133866" y="1554451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17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2173D"/>
                </a:solidFill>
                <a:latin typeface="Calibri"/>
                <a:ea typeface="Calibri"/>
                <a:cs typeface="Calibri"/>
                <a:sym typeface="Calibri"/>
              </a:rPr>
              <a:t>●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1773950" y="1417377"/>
            <a:ext cx="9784200" cy="13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Social Impact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Improves timely delivery of essential goods such as medicines, food, and construction materials to remote areas.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Helps authorities respond faster to landslides, floods, and road blockages through real-time alerts.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Improves accessibility and connectivity for remote communities across the NER.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Supports better coordination between government authorities, transporters, and field officials.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66B74"/>
              </a:buClr>
              <a:buSzPts val="1200"/>
              <a:buFont typeface="Calibri"/>
              <a:buNone/>
            </a:pPr>
            <a:r>
              <a:t/>
            </a:r>
            <a:endParaRPr i="1" sz="1200">
              <a:solidFill>
                <a:srgbClr val="666B7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914389" y="3054075"/>
            <a:ext cx="10725900" cy="1536300"/>
          </a:xfrm>
          <a:prstGeom prst="roundRect">
            <a:avLst>
              <a:gd fmla="val 5357" name="adj"/>
            </a:avLst>
          </a:prstGeom>
          <a:solidFill>
            <a:srgbClr val="F5F6FA"/>
          </a:solidFill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25400">
              <a:srgbClr val="1B1F3B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1133866" y="3273523"/>
            <a:ext cx="457200" cy="457200"/>
          </a:xfrm>
          <a:prstGeom prst="ellipse">
            <a:avLst/>
          </a:prstGeom>
          <a:solidFill>
            <a:srgbClr val="D6A64F"/>
          </a:solidFill>
          <a:ln cap="flat" cmpd="sng" w="15875">
            <a:solidFill>
              <a:srgbClr val="781F1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1B1F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1133866" y="3273523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17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2173D"/>
                </a:solidFill>
                <a:latin typeface="Calibri"/>
                <a:ea typeface="Calibri"/>
                <a:cs typeface="Calibri"/>
                <a:sym typeface="Calibri"/>
              </a:rPr>
              <a:t>■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1773950" y="3273525"/>
            <a:ext cx="9509700" cy="11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Economic Impact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Reduces fuel consumption, travel time, and transportation costs through optimized routing.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Minimizes losses caused by delayed or disrupted deliveries.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Helps agricultural producers transport their goods more reliably to markets.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Enables more efficient utilization of existing transportation infrastructure.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66B74"/>
              </a:buClr>
              <a:buSzPts val="1200"/>
              <a:buFont typeface="Calibri"/>
              <a:buNone/>
            </a:pPr>
            <a:r>
              <a:t/>
            </a:r>
            <a:endParaRPr i="1" sz="1200">
              <a:solidFill>
                <a:srgbClr val="666B7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914389" y="4773150"/>
            <a:ext cx="10725900" cy="1536300"/>
          </a:xfrm>
          <a:prstGeom prst="roundRect">
            <a:avLst>
              <a:gd fmla="val 5357" name="adj"/>
            </a:avLst>
          </a:prstGeom>
          <a:solidFill>
            <a:srgbClr val="F5F6FA"/>
          </a:solidFill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25400">
              <a:srgbClr val="1B1F3B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1133866" y="4992595"/>
            <a:ext cx="457200" cy="457200"/>
          </a:xfrm>
          <a:prstGeom prst="ellipse">
            <a:avLst/>
          </a:prstGeom>
          <a:solidFill>
            <a:srgbClr val="D6A64F"/>
          </a:solidFill>
          <a:ln cap="flat" cmpd="sng" w="15875">
            <a:solidFill>
              <a:srgbClr val="781F1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1B1F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1133866" y="499259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17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2173D"/>
                </a:solidFill>
                <a:latin typeface="Calibri"/>
                <a:ea typeface="Calibri"/>
                <a:cs typeface="Calibri"/>
                <a:sym typeface="Calibri"/>
              </a:rPr>
              <a:t>▲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1773950" y="4992600"/>
            <a:ext cx="9784200" cy="12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Environmental Impact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Reduces unnecessary vehicle travel and fuel consumption through intelligent route optimization.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Helps reduce transportation-related carbon emissions.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</a:rPr>
              <a:t>Supports sustainable logistics planning by identifying efficient routes and avoiding repeatedly disrupted corridors.</a:t>
            </a:r>
            <a:endParaRPr i="1" sz="1200">
              <a:solidFill>
                <a:srgbClr val="666B7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IITM BS Degree Programme</a:t>
            </a:r>
            <a:r>
              <a:rPr b="0" i="0" lang="en-US" sz="9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   ·   SIH Internal Hackathon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8897112" y="6519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Section 06 of 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9"/>
          <p:cNvCxnSpPr/>
          <p:nvPr/>
        </p:nvCxnSpPr>
        <p:spPr>
          <a:xfrm>
            <a:off x="548640" y="6473952"/>
            <a:ext cx="11091672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"/>
          <p:cNvSpPr/>
          <p:nvPr/>
        </p:nvSpPr>
        <p:spPr>
          <a:xfrm>
            <a:off x="548640" y="420624"/>
            <a:ext cx="365760" cy="365760"/>
          </a:xfrm>
          <a:prstGeom prst="ellipse">
            <a:avLst/>
          </a:prstGeom>
          <a:solidFill>
            <a:srgbClr val="781F19"/>
          </a:solidFill>
          <a:ln cap="flat" cmpd="sng" w="15875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1B1F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548640" y="4206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1051560" y="40233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SECTION 07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1051560" y="621792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Research and References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10981944" y="292608"/>
            <a:ext cx="658368" cy="658368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1B1F3B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work/iitm_bs_logo.png" id="232" name="Google Shape;23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4240" y="374904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0"/>
          <p:cNvSpPr/>
          <p:nvPr/>
        </p:nvSpPr>
        <p:spPr>
          <a:xfrm>
            <a:off x="548661" y="1417325"/>
            <a:ext cx="10972800" cy="4800600"/>
          </a:xfrm>
          <a:prstGeom prst="roundRect">
            <a:avLst>
              <a:gd fmla="val 1714" name="adj"/>
            </a:avLst>
          </a:prstGeom>
          <a:solidFill>
            <a:srgbClr val="F5F6FA"/>
          </a:solidFill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25400">
              <a:srgbClr val="1B1F3B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1126177" y="1627637"/>
            <a:ext cx="9817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5" name="Google Shape;235;p10"/>
          <p:cNvCxnSpPr/>
          <p:nvPr/>
        </p:nvCxnSpPr>
        <p:spPr>
          <a:xfrm>
            <a:off x="1126177" y="1956821"/>
            <a:ext cx="9817800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10"/>
          <p:cNvSpPr/>
          <p:nvPr/>
        </p:nvSpPr>
        <p:spPr>
          <a:xfrm>
            <a:off x="1126177" y="2121413"/>
            <a:ext cx="9817800" cy="39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200"/>
              <a:buFont typeface="Calibri"/>
              <a:buChar char="•"/>
            </a:pPr>
            <a:r>
              <a:rPr b="1" lang="en-US" sz="1200">
                <a:solidFill>
                  <a:schemeClr val="dk1"/>
                </a:solidFill>
              </a:rPr>
              <a:t>Ministry of Commerce &amp; Industry, Government of India</a:t>
            </a:r>
            <a:r>
              <a:rPr lang="en-US" sz="1200">
                <a:solidFill>
                  <a:schemeClr val="dk1"/>
                </a:solidFill>
              </a:rPr>
              <a:t>, </a:t>
            </a:r>
            <a:r>
              <a:rPr i="1" lang="en-US" sz="1200">
                <a:solidFill>
                  <a:schemeClr val="dk1"/>
                </a:solidFill>
              </a:rPr>
              <a:t>PM GatiShakti National Master Plan – Integrated Infrastructure Planning</a:t>
            </a:r>
            <a:r>
              <a:rPr lang="en-US" sz="1200">
                <a:solidFill>
                  <a:schemeClr val="dk1"/>
                </a:solidFill>
              </a:rPr>
              <a:t>, 2026.</a:t>
            </a:r>
            <a:r>
              <a:rPr lang="en-US" sz="12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200" u="sng">
                <a:solidFill>
                  <a:schemeClr val="hlink"/>
                </a:solidFill>
                <a:hlinkClick r:id="rId5"/>
              </a:rPr>
              <a:t>Reference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9725" lvl="0" marL="34290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666B74"/>
              </a:buClr>
              <a:buSzPts val="1200"/>
              <a:buFont typeface="Calibri"/>
              <a:buChar char="•"/>
            </a:pPr>
            <a:r>
              <a:rPr b="1" lang="en-US" sz="1200">
                <a:solidFill>
                  <a:schemeClr val="dk1"/>
                </a:solidFill>
              </a:rPr>
              <a:t>Ministry of Commerce &amp; Industry, Government of India</a:t>
            </a:r>
            <a:r>
              <a:rPr lang="en-US" sz="1200">
                <a:solidFill>
                  <a:schemeClr val="dk1"/>
                </a:solidFill>
              </a:rPr>
              <a:t>, </a:t>
            </a:r>
            <a:r>
              <a:rPr i="1" lang="en-US" sz="1200">
                <a:solidFill>
                  <a:schemeClr val="dk1"/>
                </a:solidFill>
              </a:rPr>
              <a:t>PM GatiShakti National Master Plan – Multimodal Connectivity and Logistics</a:t>
            </a:r>
            <a:r>
              <a:rPr lang="en-US" sz="1200">
                <a:solidFill>
                  <a:schemeClr val="dk1"/>
                </a:solidFill>
              </a:rPr>
              <a:t>,2023.</a:t>
            </a:r>
            <a:r>
              <a:rPr lang="en-US" sz="1200">
                <a:solidFill>
                  <a:schemeClr val="dk1"/>
                </a:solidFill>
              </a:rPr>
              <a:t> </a:t>
            </a:r>
            <a:r>
              <a:rPr lang="en-US" sz="1200" u="sng">
                <a:solidFill>
                  <a:schemeClr val="hlink"/>
                </a:solidFill>
                <a:hlinkClick r:id="rId6"/>
              </a:rPr>
              <a:t>Reference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9725" lvl="0" marL="34290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1" lang="en-US" sz="1200">
                <a:solidFill>
                  <a:schemeClr val="dk1"/>
                </a:solidFill>
              </a:rPr>
              <a:t>Geological Survey of India (GSI)</a:t>
            </a:r>
            <a:r>
              <a:rPr lang="en-US" sz="1200">
                <a:solidFill>
                  <a:schemeClr val="dk1"/>
                </a:solidFill>
              </a:rPr>
              <a:t>, </a:t>
            </a:r>
            <a:r>
              <a:rPr i="1" lang="en-US" sz="1200">
                <a:solidFill>
                  <a:schemeClr val="dk1"/>
                </a:solidFill>
              </a:rPr>
              <a:t>Bhusanket / Bhooskhalan – National Landslide Forecasting Centre</a:t>
            </a:r>
            <a:r>
              <a:rPr lang="en-US" sz="1200">
                <a:solidFill>
                  <a:schemeClr val="dk1"/>
                </a:solidFill>
              </a:rPr>
              <a:t>, 2025–26.</a:t>
            </a:r>
            <a:r>
              <a:rPr lang="en-US" sz="1200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200" u="sng">
                <a:solidFill>
                  <a:schemeClr val="hlink"/>
                </a:solidFill>
                <a:hlinkClick r:id="rId8"/>
              </a:rPr>
              <a:t>Reference</a:t>
            </a:r>
            <a:endParaRPr sz="1200" u="sng">
              <a:solidFill>
                <a:schemeClr val="hlink"/>
              </a:solidFill>
            </a:endParaRPr>
          </a:p>
          <a:p>
            <a:pPr indent="-339725" lvl="0" marL="34290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1" lang="en-US" sz="1200">
                <a:solidFill>
                  <a:schemeClr val="dk1"/>
                </a:solidFill>
              </a:rPr>
              <a:t>North Eastern Council (NEC)</a:t>
            </a:r>
            <a:r>
              <a:rPr lang="en-US" sz="1200">
                <a:solidFill>
                  <a:schemeClr val="dk1"/>
                </a:solidFill>
              </a:rPr>
              <a:t>, </a:t>
            </a:r>
            <a:r>
              <a:rPr i="1" lang="en-US" sz="1200">
                <a:solidFill>
                  <a:schemeClr val="dk1"/>
                </a:solidFill>
              </a:rPr>
              <a:t>NEC Yearbook 2025 – Transport and Connectivity in the North Eastern Region</a:t>
            </a:r>
            <a:r>
              <a:rPr lang="en-US" sz="1200">
                <a:solidFill>
                  <a:schemeClr val="dk1"/>
                </a:solidFill>
              </a:rPr>
              <a:t>, 2025.</a:t>
            </a:r>
            <a:r>
              <a:rPr lang="en-US" sz="1200">
                <a:solidFill>
                  <a:schemeClr val="dk1"/>
                </a:solidFill>
                <a:uFill>
                  <a:noFill/>
                </a:u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200" u="sng">
                <a:solidFill>
                  <a:schemeClr val="hlink"/>
                </a:solidFill>
                <a:hlinkClick r:id="rId10"/>
              </a:rPr>
              <a:t>Reference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9725" lvl="0" marL="34290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•"/>
            </a:pPr>
            <a:r>
              <a:rPr b="1" lang="en-US" sz="1200">
                <a:solidFill>
                  <a:schemeClr val="dk1"/>
                </a:solidFill>
              </a:rPr>
              <a:t>Geological Survey of India (GSI)</a:t>
            </a:r>
            <a:r>
              <a:rPr lang="en-US" sz="1200">
                <a:solidFill>
                  <a:schemeClr val="dk1"/>
                </a:solidFill>
              </a:rPr>
              <a:t>, </a:t>
            </a:r>
            <a:r>
              <a:rPr i="1" lang="en-US" sz="1200">
                <a:solidFill>
                  <a:schemeClr val="dk1"/>
                </a:solidFill>
              </a:rPr>
              <a:t>Regional Landslide Early Warning and Landslide Data Collection Initiatives</a:t>
            </a:r>
            <a:r>
              <a:rPr lang="en-US" sz="1200">
                <a:solidFill>
                  <a:schemeClr val="dk1"/>
                </a:solidFill>
              </a:rPr>
              <a:t>, 2024–25.</a:t>
            </a:r>
            <a:r>
              <a:rPr lang="en-US" sz="1200">
                <a:solidFill>
                  <a:schemeClr val="dk1"/>
                </a:solidFill>
                <a:uFill>
                  <a:noFill/>
                </a:u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sz="1200" u="sng">
                <a:solidFill>
                  <a:schemeClr val="hlink"/>
                </a:solidFill>
                <a:hlinkClick r:id="rId12"/>
              </a:rPr>
              <a:t>Reference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IITM BS Degree Programme</a:t>
            </a:r>
            <a:r>
              <a:rPr b="0" i="0" lang="en-US" sz="9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   ·   SIH Internal Hackathon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8897112" y="6519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Section 07 of 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p10"/>
          <p:cNvCxnSpPr/>
          <p:nvPr/>
        </p:nvCxnSpPr>
        <p:spPr>
          <a:xfrm>
            <a:off x="548640" y="6473952"/>
            <a:ext cx="11091672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"/>
          <p:cNvSpPr/>
          <p:nvPr/>
        </p:nvSpPr>
        <p:spPr>
          <a:xfrm>
            <a:off x="548640" y="420624"/>
            <a:ext cx="365760" cy="365760"/>
          </a:xfrm>
          <a:prstGeom prst="ellipse">
            <a:avLst/>
          </a:prstGeom>
          <a:solidFill>
            <a:srgbClr val="781F19"/>
          </a:solidFill>
          <a:ln cap="flat" cmpd="sng" w="15875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19050">
              <a:srgbClr val="1B1F3B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548640" y="4206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1051560" y="402336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SECTION 08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1051560" y="621792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Solution Summary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10981944" y="292608"/>
            <a:ext cx="658368" cy="658368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D6A64F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1B1F3B">
                <a:alpha val="2196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work/iitm_bs_logo.png" id="250" name="Google Shape;25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4240" y="374904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1"/>
          <p:cNvSpPr/>
          <p:nvPr/>
        </p:nvSpPr>
        <p:spPr>
          <a:xfrm>
            <a:off x="548639" y="1252725"/>
            <a:ext cx="11009400" cy="4800600"/>
          </a:xfrm>
          <a:prstGeom prst="roundRect">
            <a:avLst>
              <a:gd fmla="val 1714" name="adj"/>
            </a:avLst>
          </a:prstGeom>
          <a:solidFill>
            <a:srgbClr val="F5F6FA"/>
          </a:solidFill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25400">
              <a:srgbClr val="1B1F3B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548639" y="1252725"/>
            <a:ext cx="11009400" cy="365700"/>
          </a:xfrm>
          <a:prstGeom prst="roundRect">
            <a:avLst>
              <a:gd fmla="val 225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548639" y="1435605"/>
            <a:ext cx="11009400" cy="18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1012181" y="1252725"/>
            <a:ext cx="386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Criterion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4875030" y="1252725"/>
            <a:ext cx="621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1012181" y="1618484"/>
            <a:ext cx="38628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4875030" y="1618484"/>
            <a:ext cx="62196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Difficult terrain, unreliable connectivity, and frequent weather-related disruptions cause delays and supply-chain issues across the North Eastern Region.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11"/>
          <p:cNvCxnSpPr/>
          <p:nvPr/>
        </p:nvCxnSpPr>
        <p:spPr>
          <a:xfrm>
            <a:off x="548639" y="2505451"/>
            <a:ext cx="11009400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11"/>
          <p:cNvSpPr/>
          <p:nvPr/>
        </p:nvSpPr>
        <p:spPr>
          <a:xfrm>
            <a:off x="548639" y="2505451"/>
            <a:ext cx="11009400" cy="8871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1012181" y="2505451"/>
            <a:ext cx="38628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Proposed Solution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4875030" y="2505451"/>
            <a:ext cx="62196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An AI-powered logistics intelligence platform combining GIS, weather data, GPS tracking, field reports, and intelligent route optimization.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2" name="Google Shape;262;p11"/>
          <p:cNvCxnSpPr/>
          <p:nvPr/>
        </p:nvCxnSpPr>
        <p:spPr>
          <a:xfrm>
            <a:off x="548639" y="3392418"/>
            <a:ext cx="11009400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p11"/>
          <p:cNvSpPr/>
          <p:nvPr/>
        </p:nvSpPr>
        <p:spPr>
          <a:xfrm>
            <a:off x="1012181" y="3392418"/>
            <a:ext cx="38628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Novelty / USP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4875030" y="3392418"/>
            <a:ext cx="62196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Offline-first operation with SMS fallback, AI-based disruption prediction, and dynamic route tracking even during GPS/network blackouts.</a:t>
            </a:r>
            <a:endParaRPr b="0" i="1" sz="1200" u="none" cap="none" strike="noStrike">
              <a:solidFill>
                <a:srgbClr val="666B7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5" name="Google Shape;265;p11"/>
          <p:cNvCxnSpPr/>
          <p:nvPr/>
        </p:nvCxnSpPr>
        <p:spPr>
          <a:xfrm>
            <a:off x="548639" y="4279385"/>
            <a:ext cx="11009400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6" name="Google Shape;266;p11"/>
          <p:cNvSpPr/>
          <p:nvPr/>
        </p:nvSpPr>
        <p:spPr>
          <a:xfrm>
            <a:off x="548639" y="4279385"/>
            <a:ext cx="11009400" cy="8871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1012181" y="4279385"/>
            <a:ext cx="38628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Feasibility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4875030" y="4279385"/>
            <a:ext cx="62196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Built using existing GIS, GPS, weather APIs, cloud infrastructure, and smartphone-based field data, with offline capabilities for low-connectivity regions.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" name="Google Shape;269;p11"/>
          <p:cNvCxnSpPr/>
          <p:nvPr/>
        </p:nvCxnSpPr>
        <p:spPr>
          <a:xfrm>
            <a:off x="548639" y="5166351"/>
            <a:ext cx="11009400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p11"/>
          <p:cNvSpPr/>
          <p:nvPr/>
        </p:nvSpPr>
        <p:spPr>
          <a:xfrm>
            <a:off x="1012181" y="5166351"/>
            <a:ext cx="38628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4875030" y="5166351"/>
            <a:ext cx="6219600" cy="8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Faster emergency response, fewer supply disruptions, reduced logistics costs, improved connectivity, and more efficient transportation planning across NER.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548640" y="6519672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1F19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81F19"/>
                </a:solidFill>
                <a:latin typeface="Calibri"/>
                <a:ea typeface="Calibri"/>
                <a:cs typeface="Calibri"/>
                <a:sym typeface="Calibri"/>
              </a:rPr>
              <a:t>IITM BS Degree Programme</a:t>
            </a:r>
            <a:r>
              <a:rPr b="0" i="0" lang="en-US" sz="9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   ·   SIH Internal Hackathon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8897112" y="6519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B7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66B74"/>
                </a:solidFill>
                <a:latin typeface="Calibri"/>
                <a:ea typeface="Calibri"/>
                <a:cs typeface="Calibri"/>
                <a:sym typeface="Calibri"/>
              </a:rPr>
              <a:t>Section 08 of 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" name="Google Shape;274;p11"/>
          <p:cNvCxnSpPr/>
          <p:nvPr/>
        </p:nvCxnSpPr>
        <p:spPr>
          <a:xfrm>
            <a:off x="548640" y="6473952"/>
            <a:ext cx="11091672" cy="0"/>
          </a:xfrm>
          <a:prstGeom prst="straightConnector1">
            <a:avLst/>
          </a:prstGeom>
          <a:noFill/>
          <a:ln cap="flat" cmpd="sng" w="12700">
            <a:solidFill>
              <a:srgbClr val="E7E9F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